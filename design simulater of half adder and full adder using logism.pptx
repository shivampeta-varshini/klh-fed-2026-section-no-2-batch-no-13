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58" r:id="rId5"/>
    <p:sldId id="263" r:id="rId6"/>
    <p:sldId id="262" r:id="rId7"/>
    <p:sldId id="264" r:id="rId8"/>
    <p:sldId id="267" r:id="rId9"/>
    <p:sldId id="266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9-09T05:02:44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sldOrd">
      <pc:chgData name="Guest User" userId="" providerId="Windows Live" clId="Web-{00000000-0000-0000-0000-000000000000}" dt="2026-09-09T05:02:44.288" v="1"/>
      <pc:docMkLst>
        <pc:docMk/>
      </pc:docMkLst>
      <pc:sldChg chg="ord">
        <pc:chgData name="Guest User" userId="" providerId="Windows Live" clId="Web-{00000000-0000-0000-0000-000000000000}" dt="2026-09-09T05:02:44.288" v="1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0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052560" y="6784848"/>
            <a:ext cx="3136392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5800" y="4480560"/>
            <a:ext cx="73152" cy="237744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-320040" y="228600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10515600" y="6400800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-109727" y="438912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rallelogram 8"/>
          <p:cNvSpPr/>
          <p:nvPr/>
        </p:nvSpPr>
        <p:spPr>
          <a:xfrm>
            <a:off x="10305288" y="6190488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rallelogram 9"/>
          <p:cNvSpPr/>
          <p:nvPr/>
        </p:nvSpPr>
        <p:spPr>
          <a:xfrm>
            <a:off x="100584" y="649224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rallelogram 10"/>
          <p:cNvSpPr/>
          <p:nvPr/>
        </p:nvSpPr>
        <p:spPr>
          <a:xfrm>
            <a:off x="10094976" y="5980176"/>
            <a:ext cx="2011680" cy="146304"/>
          </a:xfrm>
          <a:prstGeom prst="parallelogram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594360" y="91440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123444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910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594360" y="164592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20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88720" y="196596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5910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94360" y="237744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88720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88720" y="269748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5910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 flipH="1">
            <a:off x="9418319" y="91440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18319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961119" y="123444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9062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H="1">
            <a:off x="9418319" y="164592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418319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961119" y="196596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9062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 flipH="1">
            <a:off x="9418319" y="237744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18319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961119" y="269748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9062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4001" y="2299299"/>
            <a:ext cx="10378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0B8D4"/>
                </a:solidFill>
                <a:latin typeface="Aptos Display"/>
              </a:defRPr>
            </a:pPr>
            <a:r>
              <a:t>DESIGN AND SIMULATION OF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272" y="2949922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9FC"/>
                </a:solidFill>
                <a:latin typeface="Aptos Display"/>
              </a:defRPr>
            </a:pPr>
            <a:r>
              <a:t>HALF ADDER AND FULL ADDER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01953" y="3586243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0B8D4"/>
                </a:solidFill>
                <a:latin typeface="Aptos Display"/>
              </a:defRPr>
            </a:pPr>
            <a:r>
              <a:t>USING LOGISIM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172969" y="4487835"/>
            <a:ext cx="5596128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iamond 41"/>
          <p:cNvSpPr/>
          <p:nvPr/>
        </p:nvSpPr>
        <p:spPr>
          <a:xfrm>
            <a:off x="5959677" y="4387251"/>
            <a:ext cx="201168" cy="201168"/>
          </a:xfrm>
          <a:prstGeom prst="diamond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9097" y="1270000"/>
            <a:ext cx="11019503" cy="489648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6840" y="2360991"/>
            <a:ext cx="6126480" cy="27266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t>• </a:t>
            </a:r>
            <a:r>
              <a:rPr>
                <a:latin typeface="Calisto MT" panose="02040603050505030304" charset="0"/>
                <a:cs typeface="Calisto MT" panose="02040603050505030304" charset="0"/>
              </a:rPr>
              <a:t>An Adder is a combinational logic circuit used to perform binary addition.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</a:rPr>
              <a:t>• A Half Adder adds two 1-bit binary inputs.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</a:rPr>
              <a:t>• A Full Adder adds three 1-bit inputs, including Carry Input (Cin).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</a:rPr>
              <a:t>• The main outputs are Sum and Carry.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3039" y="2138680"/>
            <a:ext cx="338328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2000" b="1">
                <a:solidFill>
                  <a:srgbClr val="141C3A"/>
                </a:solidFill>
              </a:defRPr>
            </a:pPr>
            <a:r>
              <a:t>BINARY ADDITION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920" y="2620645"/>
            <a:ext cx="2926080" cy="2194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2300" b="1">
                <a:solidFill>
                  <a:srgbClr val="2A5CAA"/>
                </a:solidFill>
              </a:defRPr>
            </a:pPr>
            <a:r>
              <a:t>0 + 0 = 0</a:t>
            </a:r>
            <a:br/>
            <a:r>
              <a:t>0 + 1 = 1</a:t>
            </a:r>
            <a:br/>
            <a:r>
              <a:t>1 + 0 = 1</a:t>
            </a:r>
            <a:br/>
            <a:r>
              <a:t>1 + 1 =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HALF ADDER – CONCEPT AND BOOLEAN EXPRESSIONS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010" y="1325880"/>
            <a:ext cx="10832465" cy="483552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3914" y="2718128"/>
            <a:ext cx="4389120" cy="170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t>•</a:t>
            </a:r>
            <a:r>
              <a:rPr sz="2000">
                <a:latin typeface="Calisto MT" panose="02040603050505030304" charset="0"/>
                <a:cs typeface="Calisto MT" panose="02040603050505030304" charset="0"/>
              </a:rPr>
              <a:t> Inputs: A and B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Outputs: Sum (S) and Carry (C)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Sum equation: S = A ⊕ B</a:t>
            </a:r>
          </a:p>
          <a:p>
            <a:pPr>
              <a:spcAft>
                <a:spcPts val="1000"/>
              </a:spcAft>
              <a:defRPr sz="19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Carry equation: C = A · B</a:t>
            </a:r>
          </a:p>
        </p:txBody>
      </p:sp>
      <p:pic>
        <p:nvPicPr>
          <p:cNvPr id="4" name="Picture 3" descr="Half Adder and Half Subtractor using NAND NOR gates - GeeksforGeeks">
            <a:extLst>
              <a:ext uri="{FF2B5EF4-FFF2-40B4-BE49-F238E27FC236}">
                <a16:creationId xmlns:a16="http://schemas.microsoft.com/office/drawing/2014/main" id="{EB008CDD-8597-EDBF-B007-D361FBF01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2458065"/>
            <a:ext cx="4454012" cy="222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749425" y="1603375"/>
            <a:ext cx="8646160" cy="445135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OBJECTIVES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2460625" y="2046605"/>
            <a:ext cx="7416800" cy="3433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Understand binary addition.</a:t>
            </a:r>
            <a:endParaRPr>
              <a:latin typeface="Calisto MT" panose="02040603050505030304" charset="0"/>
              <a:cs typeface="Calisto MT" panose="02040603050505030304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Design a Half Adder using XOR and </a:t>
            </a:r>
            <a:r>
              <a:rPr err="1">
                <a:latin typeface="Calisto MT" panose="02040603050505030304" charset="0"/>
                <a:cs typeface="Calisto MT" panose="02040603050505030304" charset="0"/>
                <a:sym typeface="+mn-ea"/>
              </a:rPr>
              <a:t>AND</a:t>
            </a: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 gates.</a:t>
            </a:r>
            <a:endParaRPr>
              <a:latin typeface="Calisto MT" panose="02040603050505030304" charset="0"/>
              <a:cs typeface="Calisto MT" panose="02040603050505030304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Design a Full Adder using XOR, AND </a:t>
            </a:r>
            <a:r>
              <a:rPr err="1">
                <a:latin typeface="Calisto MT" panose="02040603050505030304" charset="0"/>
                <a:cs typeface="Calisto MT" panose="02040603050505030304" charset="0"/>
                <a:sym typeface="+mn-ea"/>
              </a:rPr>
              <a:t>and</a:t>
            </a: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 OR gates.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Simulate both circuits in Logisim.</a:t>
            </a:r>
            <a:endParaRPr>
              <a:latin typeface="Calisto MT" panose="02040603050505030304" charset="0"/>
              <a:cs typeface="Calisto MT" panose="02040603050505030304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>
                <a:latin typeface="Calisto MT" panose="02040603050505030304" charset="0"/>
                <a:cs typeface="Calisto MT" panose="02040603050505030304" charset="0"/>
                <a:sym typeface="+mn-ea"/>
              </a:rPr>
              <a:t>Verify the results using truth tables.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232A3E"/>
                </a:solidFill>
              </a:defRPr>
            </a:pPr>
            <a:r>
              <a:rPr lang="en-US">
                <a:latin typeface="Calisto MT" panose="02040603050505030304" charset="0"/>
                <a:cs typeface="Calisto MT" panose="02040603050505030304" charset="0"/>
              </a:rPr>
              <a:t>Conclusion.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HALF ADDER – LOGISIM SIMULATION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623560"/>
            <a:ext cx="9875520" cy="365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defRPr sz="1700" b="1">
                <a:solidFill>
                  <a:srgbClr val="232A3E"/>
                </a:solidFill>
              </a:defRPr>
            </a:pPr>
            <a:r>
              <a:t>Suggested test: A = 1, B = 1  →  Sum = 0, Carry = 1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495" y="1028700"/>
            <a:ext cx="7339965" cy="5348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HALF ADDER –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446685"/>
              </p:ext>
            </p:extLst>
          </p:nvPr>
        </p:nvGraphicFramePr>
        <p:xfrm>
          <a:off x="1828800" y="1415845"/>
          <a:ext cx="850392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Sum (S)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AFAFC"/>
                          </a:solidFill>
                        </a:defRPr>
                      </a:pPr>
                      <a:r>
                        <a:t>Carry (C)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FULL ADDER – CONCEPT AND BOOLEAN EXPRESSIONS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356853"/>
            <a:ext cx="10424160" cy="4984953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5400" y="2147364"/>
            <a:ext cx="5213555" cy="3383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Inputs: A, B and Cin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Outputs: Sum (S) and Carry Out (Cout)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Sum: S = A ⊕ B ⊕ Cin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Carry: Cout = AB + Cin(A ⊕ B)</a:t>
            </a:r>
          </a:p>
          <a:p>
            <a:pPr>
              <a:spcAft>
                <a:spcPts val="1000"/>
              </a:spcAft>
              <a:defRPr sz="1800">
                <a:solidFill>
                  <a:srgbClr val="232A3E"/>
                </a:solidFill>
              </a:defRPr>
            </a:pPr>
            <a:r>
              <a:rPr sz="2000">
                <a:latin typeface="Calisto MT" panose="02040603050505030304" charset="0"/>
                <a:cs typeface="Calisto MT" panose="02040603050505030304" charset="0"/>
              </a:rPr>
              <a:t>• Built using two Half Adder stages and one OR gate.</a:t>
            </a:r>
          </a:p>
        </p:txBody>
      </p:sp>
      <p:pic>
        <p:nvPicPr>
          <p:cNvPr id="4" name="Picture 3" descr="Full Adder - GeeksforGeeks">
            <a:extLst>
              <a:ext uri="{FF2B5EF4-FFF2-40B4-BE49-F238E27FC236}">
                <a16:creationId xmlns:a16="http://schemas.microsoft.com/office/drawing/2014/main" id="{2CCCC73D-E84F-4F24-DB48-2B960B72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765" y="2241755"/>
            <a:ext cx="3699094" cy="28906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FULL ADDER – LOGISIM SIMULATION EVIDENCE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20" y="937260"/>
            <a:ext cx="6845935" cy="5658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FULL ADDER – TRUTH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207571"/>
              </p:ext>
            </p:extLst>
          </p:nvPr>
        </p:nvGraphicFramePr>
        <p:xfrm>
          <a:off x="1396181" y="1258529"/>
          <a:ext cx="9104670" cy="477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0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72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Cin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AFAFC"/>
                          </a:solidFill>
                        </a:defRPr>
                      </a:pPr>
                      <a:r>
                        <a:t>Cout</a:t>
                      </a:r>
                    </a:p>
                  </a:txBody>
                  <a:tcPr>
                    <a:solidFill>
                      <a:srgbClr val="141C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724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32A3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C"/>
                </a:solidFill>
              </a:defRPr>
            </a:pPr>
            <a:r>
              <a:t>RESULT AND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0515600" cy="411480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8541" y="1951672"/>
            <a:ext cx="8426737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E"/>
                </a:solidFill>
              </a:defRPr>
            </a:pPr>
            <a:r>
              <a:rPr sz="2300">
                <a:latin typeface="Calisto MT" panose="02040603050505030304" pitchFamily="18" charset="0"/>
              </a:rPr>
              <a:t>• Half Adder was successfully designed using XOR and </a:t>
            </a:r>
            <a:r>
              <a:rPr sz="2300" err="1">
                <a:latin typeface="Calisto MT" panose="02040603050505030304" pitchFamily="18" charset="0"/>
              </a:rPr>
              <a:t>AND</a:t>
            </a:r>
            <a:r>
              <a:rPr sz="2300">
                <a:latin typeface="Calisto MT" panose="02040603050505030304" pitchFamily="18" charset="0"/>
              </a:rPr>
              <a:t> gates.</a:t>
            </a:r>
          </a:p>
          <a:p>
            <a:pPr>
              <a:spcAft>
                <a:spcPts val="1000"/>
              </a:spcAft>
              <a:defRPr sz="2000">
                <a:solidFill>
                  <a:srgbClr val="232A3E"/>
                </a:solidFill>
              </a:defRPr>
            </a:pPr>
            <a:r>
              <a:rPr sz="2300">
                <a:latin typeface="Calisto MT" panose="02040603050505030304" pitchFamily="18" charset="0"/>
              </a:rPr>
              <a:t>• Full Adder was successfully designed using </a:t>
            </a:r>
            <a:r>
              <a:rPr lang="en-US" sz="2300">
                <a:latin typeface="Calisto MT" panose="02040603050505030304" pitchFamily="18" charset="0"/>
              </a:rPr>
              <a:t>2</a:t>
            </a:r>
            <a:r>
              <a:rPr sz="2300">
                <a:latin typeface="Calisto MT" panose="02040603050505030304" pitchFamily="18" charset="0"/>
              </a:rPr>
              <a:t> XOR gates, </a:t>
            </a:r>
            <a:r>
              <a:rPr lang="en-US" sz="2300">
                <a:latin typeface="Calisto MT" panose="02040603050505030304" pitchFamily="18" charset="0"/>
              </a:rPr>
              <a:t>3 </a:t>
            </a:r>
            <a:r>
              <a:rPr sz="2300">
                <a:latin typeface="Calisto MT" panose="02040603050505030304" pitchFamily="18" charset="0"/>
              </a:rPr>
              <a:t>AND gates and 1 OR gate.</a:t>
            </a:r>
          </a:p>
          <a:p>
            <a:pPr>
              <a:spcAft>
                <a:spcPts val="1000"/>
              </a:spcAft>
              <a:defRPr sz="2000">
                <a:solidFill>
                  <a:srgbClr val="232A3E"/>
                </a:solidFill>
              </a:defRPr>
            </a:pPr>
            <a:r>
              <a:rPr sz="2300">
                <a:latin typeface="Calisto MT" panose="02040603050505030304" pitchFamily="18" charset="0"/>
              </a:rPr>
              <a:t>• The simulation outputs matched the expected truth tables.</a:t>
            </a:r>
          </a:p>
          <a:p>
            <a:pPr>
              <a:spcAft>
                <a:spcPts val="1000"/>
              </a:spcAft>
              <a:defRPr sz="2000">
                <a:solidFill>
                  <a:srgbClr val="232A3E"/>
                </a:solidFill>
              </a:defRPr>
            </a:pPr>
            <a:r>
              <a:rPr sz="2300">
                <a:latin typeface="Calisto MT" panose="02040603050505030304" pitchFamily="18" charset="0"/>
              </a:rPr>
              <a:t>• </a:t>
            </a:r>
            <a:r>
              <a:rPr lang="en-US" sz="2300">
                <a:latin typeface="Calisto MT" panose="02040603050505030304" pitchFamily="18" charset="0"/>
              </a:rPr>
              <a:t>It</a:t>
            </a:r>
            <a:r>
              <a:rPr sz="2300">
                <a:latin typeface="Calisto MT" panose="02040603050505030304" pitchFamily="18" charset="0"/>
              </a:rPr>
              <a:t> demonstrates practical binary addition using combinational logic.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594360" y="91440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88720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123444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910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94360" y="164592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196596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5910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594360" y="2377440"/>
            <a:ext cx="59436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88720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2697480"/>
            <a:ext cx="457199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910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H="1">
            <a:off x="9418319" y="91440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18319" y="91440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961119" y="123444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906255" y="117957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9418319" y="164592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18319" y="164592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961119" y="196596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906255" y="1911095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 flipH="1">
            <a:off x="9418319" y="2377440"/>
            <a:ext cx="594361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18319" y="2377440"/>
            <a:ext cx="0" cy="32004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1119" y="2697480"/>
            <a:ext cx="457200" cy="0"/>
          </a:xfrm>
          <a:prstGeom prst="line">
            <a:avLst/>
          </a:prstGeom>
          <a:ln w="15240">
            <a:solidFill>
              <a:srgbClr val="AF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906255" y="2642616"/>
            <a:ext cx="109728" cy="10972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91288" y="3273699"/>
            <a:ext cx="241382" cy="146304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35041" y="3312883"/>
            <a:ext cx="201952" cy="196842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270247" y="5068043"/>
            <a:ext cx="146304" cy="146298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10144" y="5037558"/>
            <a:ext cx="146304" cy="146304"/>
          </a:xfrm>
          <a:prstGeom prst="ellipse">
            <a:avLst/>
          </a:prstGeom>
          <a:solidFill>
            <a:srgbClr val="4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4411979" y="3342820"/>
            <a:ext cx="1179576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26364" y="3429000"/>
            <a:ext cx="1353312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98264" y="5110710"/>
            <a:ext cx="1179576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01765" y="5110710"/>
            <a:ext cx="1353312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591555" y="3346851"/>
            <a:ext cx="0" cy="109728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26364" y="3417643"/>
            <a:ext cx="0" cy="109728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591555" y="4283324"/>
            <a:ext cx="1005840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248656" y="4019476"/>
            <a:ext cx="1691640" cy="731520"/>
          </a:xfrm>
          <a:prstGeom prst="roundRect">
            <a:avLst/>
          </a:prstGeom>
          <a:solidFill>
            <a:srgbClr val="1B264B"/>
          </a:solidFill>
          <a:ln w="25400">
            <a:solidFill>
              <a:srgbClr val="40B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58384" y="4251959"/>
            <a:ext cx="1435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9FC"/>
                </a:solidFill>
                <a:latin typeface="Aptos Display"/>
              </a:defRPr>
            </a:pPr>
            <a:r>
              <a:t>LOGISIM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9928" y="1946468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8F9FC"/>
                </a:solidFill>
                <a:latin typeface="Aptos Display"/>
              </a:defRPr>
            </a:pPr>
            <a:r>
              <a:t>THANK YOU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31920" y="3737634"/>
            <a:ext cx="4325111" cy="0"/>
          </a:xfrm>
          <a:prstGeom prst="line">
            <a:avLst/>
          </a:prstGeom>
          <a:ln w="25400">
            <a:solidFill>
              <a:srgbClr val="4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Widescreen</PresentationFormat>
  <Paragraphs>105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Calisto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SHIVAMPETA VARSHINI</dc:creator>
  <dc:description>generated using python-pptx</dc:description>
  <cp:lastModifiedBy>SHIVAMPETA VARSHINI</cp:lastModifiedBy>
  <cp:revision>1</cp:revision>
  <dcterms:created xsi:type="dcterms:W3CDTF">2013-01-27T09:14:00Z</dcterms:created>
  <dcterms:modified xsi:type="dcterms:W3CDTF">2026-09-09T05:18:33Z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2FEF0C9F0749483D8B3929F480692149_12</vt:lpwstr>
  </property>
</Properties>
</file>