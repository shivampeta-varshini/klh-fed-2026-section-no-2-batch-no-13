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3" r:id="rId6"/>
    <p:sldId id="262" r:id="rId7"/>
    <p:sldId id="264" r:id="rId8"/>
    <p:sldId id="267" r:id="rId9"/>
    <p:sldId id="266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0" cy="73152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052560" y="6784848"/>
            <a:ext cx="3136392" cy="73152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115800" y="4480560"/>
            <a:ext cx="73152" cy="2377440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-320040" y="228600"/>
            <a:ext cx="2011680" cy="146304"/>
          </a:xfrm>
          <a:prstGeom prst="parallelogram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10515600" y="6400800"/>
            <a:ext cx="2011680" cy="146304"/>
          </a:xfrm>
          <a:prstGeom prst="parallelogram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arallelogram 7"/>
          <p:cNvSpPr/>
          <p:nvPr/>
        </p:nvSpPr>
        <p:spPr>
          <a:xfrm>
            <a:off x="-109727" y="438912"/>
            <a:ext cx="2011680" cy="146304"/>
          </a:xfrm>
          <a:prstGeom prst="parallelogram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arallelogram 8"/>
          <p:cNvSpPr/>
          <p:nvPr/>
        </p:nvSpPr>
        <p:spPr>
          <a:xfrm>
            <a:off x="10305288" y="6190488"/>
            <a:ext cx="2011680" cy="146304"/>
          </a:xfrm>
          <a:prstGeom prst="parallelogram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arallelogram 9"/>
          <p:cNvSpPr/>
          <p:nvPr/>
        </p:nvSpPr>
        <p:spPr>
          <a:xfrm>
            <a:off x="100584" y="649224"/>
            <a:ext cx="2011680" cy="146304"/>
          </a:xfrm>
          <a:prstGeom prst="parallelogram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rallelogram 10"/>
          <p:cNvSpPr/>
          <p:nvPr/>
        </p:nvSpPr>
        <p:spPr>
          <a:xfrm>
            <a:off x="10094976" y="5980176"/>
            <a:ext cx="2011680" cy="146304"/>
          </a:xfrm>
          <a:prstGeom prst="parallelogram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594360" y="914400"/>
            <a:ext cx="59436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8720" y="91440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88720" y="1234440"/>
            <a:ext cx="457199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591055" y="117957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594360" y="1645920"/>
            <a:ext cx="59436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88720" y="164592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88720" y="1965960"/>
            <a:ext cx="457199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591055" y="1911095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94360" y="2377440"/>
            <a:ext cx="59436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8720" y="237744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88720" y="2697480"/>
            <a:ext cx="457199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591055" y="264261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>
            <a:off x="9418319" y="914400"/>
            <a:ext cx="594361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18319" y="91440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961119" y="1234440"/>
            <a:ext cx="45720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906255" y="117957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 flipH="1">
            <a:off x="9418319" y="1645920"/>
            <a:ext cx="594361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418319" y="164592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961119" y="1965960"/>
            <a:ext cx="45720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906255" y="1911095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 flipH="1">
            <a:off x="9418319" y="2377440"/>
            <a:ext cx="594361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18319" y="237744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961119" y="2697480"/>
            <a:ext cx="45720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906255" y="264261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4001" y="2299299"/>
            <a:ext cx="10378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40B8D4"/>
                </a:solidFill>
                <a:latin typeface="Aptos Display"/>
              </a:defRPr>
            </a:pPr>
            <a:r>
              <a:rPr dirty="0"/>
              <a:t>DESIGN AND SIMULATION 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6272" y="2949922"/>
            <a:ext cx="11018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8F9FC"/>
                </a:solidFill>
                <a:latin typeface="Aptos Display"/>
              </a:defRPr>
            </a:pPr>
            <a:r>
              <a:rPr dirty="0"/>
              <a:t>HALF ADDER AND FULL ADDER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01953" y="3586243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40B8D4"/>
                </a:solidFill>
                <a:latin typeface="Aptos Display"/>
              </a:defRPr>
            </a:pPr>
            <a:r>
              <a:rPr dirty="0"/>
              <a:t>USING LOGISIM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172969" y="4487835"/>
            <a:ext cx="5596128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iamond 41"/>
          <p:cNvSpPr/>
          <p:nvPr/>
        </p:nvSpPr>
        <p:spPr>
          <a:xfrm>
            <a:off x="5959677" y="4387251"/>
            <a:ext cx="201168" cy="201168"/>
          </a:xfrm>
          <a:prstGeom prst="diamond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1749425" y="1603375"/>
            <a:ext cx="8646160" cy="445135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OBJECTIVES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2460625" y="2046605"/>
            <a:ext cx="7416800" cy="3433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32A3E"/>
                </a:solidFill>
              </a:defRPr>
            </a:pPr>
            <a:r>
              <a:rPr dirty="0">
                <a:latin typeface="Calisto MT" panose="02040603050505030304" charset="0"/>
                <a:cs typeface="Calisto MT" panose="02040603050505030304" charset="0"/>
                <a:sym typeface="+mn-ea"/>
              </a:rPr>
              <a:t>Understand binary addition.</a:t>
            </a:r>
            <a:endParaRPr dirty="0">
              <a:latin typeface="Calisto MT" panose="02040603050505030304" charset="0"/>
              <a:cs typeface="Calisto MT" panose="02040603050505030304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32A3E"/>
                </a:solidFill>
              </a:defRPr>
            </a:pPr>
            <a:r>
              <a:rPr dirty="0">
                <a:latin typeface="Calisto MT" panose="02040603050505030304" charset="0"/>
                <a:cs typeface="Calisto MT" panose="02040603050505030304" charset="0"/>
                <a:sym typeface="+mn-ea"/>
              </a:rPr>
              <a:t>Design a Half Adder using XOR and </a:t>
            </a:r>
            <a:r>
              <a:rPr dirty="0" err="1">
                <a:latin typeface="Calisto MT" panose="02040603050505030304" charset="0"/>
                <a:cs typeface="Calisto MT" panose="02040603050505030304" charset="0"/>
                <a:sym typeface="+mn-ea"/>
              </a:rPr>
              <a:t>AND</a:t>
            </a:r>
            <a:r>
              <a:rPr dirty="0">
                <a:latin typeface="Calisto MT" panose="02040603050505030304" charset="0"/>
                <a:cs typeface="Calisto MT" panose="02040603050505030304" charset="0"/>
                <a:sym typeface="+mn-ea"/>
              </a:rPr>
              <a:t> gates.</a:t>
            </a:r>
            <a:endParaRPr dirty="0">
              <a:latin typeface="Calisto MT" panose="02040603050505030304" charset="0"/>
              <a:cs typeface="Calisto MT" panose="02040603050505030304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32A3E"/>
                </a:solidFill>
              </a:defRPr>
            </a:pPr>
            <a:r>
              <a:rPr dirty="0">
                <a:latin typeface="Calisto MT" panose="02040603050505030304" charset="0"/>
                <a:cs typeface="Calisto MT" panose="02040603050505030304" charset="0"/>
                <a:sym typeface="+mn-ea"/>
              </a:rPr>
              <a:t>Design a Full Adder using XOR, AND </a:t>
            </a:r>
            <a:r>
              <a:rPr dirty="0" err="1">
                <a:latin typeface="Calisto MT" panose="02040603050505030304" charset="0"/>
                <a:cs typeface="Calisto MT" panose="02040603050505030304" charset="0"/>
                <a:sym typeface="+mn-ea"/>
              </a:rPr>
              <a:t>and</a:t>
            </a:r>
            <a:r>
              <a:rPr dirty="0">
                <a:latin typeface="Calisto MT" panose="02040603050505030304" charset="0"/>
                <a:cs typeface="Calisto MT" panose="02040603050505030304" charset="0"/>
                <a:sym typeface="+mn-ea"/>
              </a:rPr>
              <a:t> OR gates.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32A3E"/>
                </a:solidFill>
              </a:defRPr>
            </a:pPr>
            <a:r>
              <a:rPr dirty="0">
                <a:latin typeface="Calisto MT" panose="02040603050505030304" charset="0"/>
                <a:cs typeface="Calisto MT" panose="02040603050505030304" charset="0"/>
                <a:sym typeface="+mn-ea"/>
              </a:rPr>
              <a:t>Simulate both circuits in Logisim.</a:t>
            </a:r>
            <a:endParaRPr dirty="0">
              <a:latin typeface="Calisto MT" panose="02040603050505030304" charset="0"/>
              <a:cs typeface="Calisto MT" panose="02040603050505030304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32A3E"/>
                </a:solidFill>
              </a:defRPr>
            </a:pPr>
            <a:r>
              <a:rPr dirty="0">
                <a:latin typeface="Calisto MT" panose="02040603050505030304" charset="0"/>
                <a:cs typeface="Calisto MT" panose="02040603050505030304" charset="0"/>
                <a:sym typeface="+mn-ea"/>
              </a:rPr>
              <a:t>Verify the results using truth tables.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32A3E"/>
                </a:solidFill>
              </a:defRPr>
            </a:pPr>
            <a:r>
              <a:rPr lang="en-US" dirty="0">
                <a:latin typeface="Calisto MT" panose="02040603050505030304" charset="0"/>
                <a:cs typeface="Calisto MT" panose="02040603050505030304" charset="0"/>
              </a:rPr>
              <a:t>Conclusion.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9097" y="1270000"/>
            <a:ext cx="11019503" cy="489648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86840" y="2360991"/>
            <a:ext cx="6126480" cy="27266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 dirty="0"/>
              <a:t>• </a:t>
            </a:r>
            <a:r>
              <a:rPr dirty="0">
                <a:latin typeface="Calisto MT" panose="02040603050505030304" charset="0"/>
                <a:cs typeface="Calisto MT" panose="02040603050505030304" charset="0"/>
              </a:rPr>
              <a:t>An Adder is a combinational logic circuit used to perform binary addition.</a:t>
            </a:r>
          </a:p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 dirty="0">
                <a:latin typeface="Calisto MT" panose="02040603050505030304" charset="0"/>
                <a:cs typeface="Calisto MT" panose="02040603050505030304" charset="0"/>
              </a:rPr>
              <a:t>• A Half Adder adds two 1-bit binary inputs.</a:t>
            </a:r>
          </a:p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 dirty="0">
                <a:latin typeface="Calisto MT" panose="02040603050505030304" charset="0"/>
                <a:cs typeface="Calisto MT" panose="02040603050505030304" charset="0"/>
              </a:rPr>
              <a:t>• A Full Adder adds three 1-bit inputs, including Carry Input (Cin).</a:t>
            </a:r>
          </a:p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 dirty="0">
                <a:latin typeface="Calisto MT" panose="02040603050505030304" charset="0"/>
                <a:cs typeface="Calisto MT" panose="02040603050505030304" charset="0"/>
              </a:rPr>
              <a:t>• The main outputs are Sum and Carry.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3039" y="2138680"/>
            <a:ext cx="338328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2000" b="1">
                <a:solidFill>
                  <a:srgbClr val="141C3A"/>
                </a:solidFill>
              </a:defRPr>
            </a:pPr>
            <a:r>
              <a:t>BINARY ADDITION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920" y="2620645"/>
            <a:ext cx="2926080" cy="2194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2300" b="1">
                <a:solidFill>
                  <a:srgbClr val="2A5CAA"/>
                </a:solidFill>
              </a:defRPr>
            </a:pPr>
            <a:r>
              <a:t>0 + 0 = 0</a:t>
            </a:r>
            <a:br/>
            <a:r>
              <a:t>0 + 1 = 1</a:t>
            </a:r>
            <a:br/>
            <a:r>
              <a:t>1 + 0 = 1</a:t>
            </a:r>
            <a:br/>
            <a:r>
              <a:t>1 + 1 =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HALF ADDER – CONCEPT AND BOOLEAN EXPRESSIONS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010" y="1325880"/>
            <a:ext cx="10832465" cy="483552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3914" y="2718128"/>
            <a:ext cx="4389120" cy="170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 dirty="0"/>
              <a:t>•</a:t>
            </a:r>
            <a:r>
              <a:rPr sz="2000" dirty="0">
                <a:latin typeface="Calisto MT" panose="02040603050505030304" charset="0"/>
                <a:cs typeface="Calisto MT" panose="02040603050505030304" charset="0"/>
              </a:rPr>
              <a:t> Inputs: A and B</a:t>
            </a:r>
          </a:p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 sz="2000" dirty="0">
                <a:latin typeface="Calisto MT" panose="02040603050505030304" charset="0"/>
                <a:cs typeface="Calisto MT" panose="02040603050505030304" charset="0"/>
              </a:rPr>
              <a:t>• Outputs: Sum (S) and Carry (C)</a:t>
            </a:r>
          </a:p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 sz="2000" dirty="0">
                <a:latin typeface="Calisto MT" panose="02040603050505030304" charset="0"/>
                <a:cs typeface="Calisto MT" panose="02040603050505030304" charset="0"/>
              </a:rPr>
              <a:t>• Sum equation: S = A ⊕ B</a:t>
            </a:r>
          </a:p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 sz="2000" dirty="0">
                <a:latin typeface="Calisto MT" panose="02040603050505030304" charset="0"/>
                <a:cs typeface="Calisto MT" panose="02040603050505030304" charset="0"/>
              </a:rPr>
              <a:t>• Carry equation: C = A · B</a:t>
            </a:r>
          </a:p>
        </p:txBody>
      </p:sp>
      <p:pic>
        <p:nvPicPr>
          <p:cNvPr id="4" name="Picture 3" descr="Half Adder and Half Subtractor using NAND NOR gates - GeeksforGeeks">
            <a:extLst>
              <a:ext uri="{FF2B5EF4-FFF2-40B4-BE49-F238E27FC236}">
                <a16:creationId xmlns:a16="http://schemas.microsoft.com/office/drawing/2014/main" id="{EB008CDD-8597-EDBF-B007-D361FBF01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0" y="2458065"/>
            <a:ext cx="4454012" cy="222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HALF ADDER – LOGISIM SIMULATION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623560"/>
            <a:ext cx="987552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700" b="1">
                <a:solidFill>
                  <a:srgbClr val="232A3E"/>
                </a:solidFill>
              </a:defRPr>
            </a:pPr>
            <a:r>
              <a:t>Suggested test: A = 1, B = 1  →  Sum = 0, Carry = 1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495" y="1028700"/>
            <a:ext cx="7339965" cy="5348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HALF ADDER – TRUTH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446685"/>
              </p:ext>
            </p:extLst>
          </p:nvPr>
        </p:nvGraphicFramePr>
        <p:xfrm>
          <a:off x="1828800" y="1415845"/>
          <a:ext cx="850392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AFAFC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AFAFC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AFAFC"/>
                          </a:solidFill>
                        </a:defRPr>
                      </a:pPr>
                      <a:r>
                        <a:t>Sum (S)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AFAFC"/>
                          </a:solidFill>
                        </a:defRPr>
                      </a:pPr>
                      <a:r>
                        <a:t>Carry (C)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FULL ADDER – CONCEPT AND BOOLEAN EXPRESSIONS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56853"/>
            <a:ext cx="10424160" cy="498495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5400" y="2147364"/>
            <a:ext cx="5213555" cy="3383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E"/>
                </a:solidFill>
              </a:defRPr>
            </a:pPr>
            <a:r>
              <a:rPr sz="2000" dirty="0">
                <a:latin typeface="Calisto MT" panose="02040603050505030304" charset="0"/>
                <a:cs typeface="Calisto MT" panose="02040603050505030304" charset="0"/>
              </a:rPr>
              <a:t>• Inputs: A, B and Cin</a:t>
            </a:r>
          </a:p>
          <a:p>
            <a:pPr>
              <a:spcAft>
                <a:spcPts val="1000"/>
              </a:spcAft>
              <a:defRPr sz="1800">
                <a:solidFill>
                  <a:srgbClr val="232A3E"/>
                </a:solidFill>
              </a:defRPr>
            </a:pPr>
            <a:r>
              <a:rPr sz="2000" dirty="0">
                <a:latin typeface="Calisto MT" panose="02040603050505030304" charset="0"/>
                <a:cs typeface="Calisto MT" panose="02040603050505030304" charset="0"/>
              </a:rPr>
              <a:t>• Outputs: Sum (S) and Carry Out (Cout)</a:t>
            </a:r>
          </a:p>
          <a:p>
            <a:pPr>
              <a:spcAft>
                <a:spcPts val="1000"/>
              </a:spcAft>
              <a:defRPr sz="1800">
                <a:solidFill>
                  <a:srgbClr val="232A3E"/>
                </a:solidFill>
              </a:defRPr>
            </a:pPr>
            <a:r>
              <a:rPr sz="2000" dirty="0">
                <a:latin typeface="Calisto MT" panose="02040603050505030304" charset="0"/>
                <a:cs typeface="Calisto MT" panose="02040603050505030304" charset="0"/>
              </a:rPr>
              <a:t>• Sum: S = A ⊕ B ⊕ Cin</a:t>
            </a:r>
          </a:p>
          <a:p>
            <a:pPr>
              <a:spcAft>
                <a:spcPts val="1000"/>
              </a:spcAft>
              <a:defRPr sz="1800">
                <a:solidFill>
                  <a:srgbClr val="232A3E"/>
                </a:solidFill>
              </a:defRPr>
            </a:pPr>
            <a:r>
              <a:rPr sz="2000" dirty="0">
                <a:latin typeface="Calisto MT" panose="02040603050505030304" charset="0"/>
                <a:cs typeface="Calisto MT" panose="02040603050505030304" charset="0"/>
              </a:rPr>
              <a:t>• Carry: Cout = AB + Cin(A ⊕ B)</a:t>
            </a:r>
          </a:p>
          <a:p>
            <a:pPr>
              <a:spcAft>
                <a:spcPts val="1000"/>
              </a:spcAft>
              <a:defRPr sz="1800">
                <a:solidFill>
                  <a:srgbClr val="232A3E"/>
                </a:solidFill>
              </a:defRPr>
            </a:pPr>
            <a:r>
              <a:rPr sz="2000" dirty="0">
                <a:latin typeface="Calisto MT" panose="02040603050505030304" charset="0"/>
                <a:cs typeface="Calisto MT" panose="02040603050505030304" charset="0"/>
              </a:rPr>
              <a:t>• Built using two Half Adder stages and one OR gate.</a:t>
            </a:r>
          </a:p>
        </p:txBody>
      </p:sp>
      <p:pic>
        <p:nvPicPr>
          <p:cNvPr id="4" name="Picture 3" descr="Full Adder - GeeksforGeeks">
            <a:extLst>
              <a:ext uri="{FF2B5EF4-FFF2-40B4-BE49-F238E27FC236}">
                <a16:creationId xmlns:a16="http://schemas.microsoft.com/office/drawing/2014/main" id="{2CCCC73D-E84F-4F24-DB48-2B960B720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765" y="2241755"/>
            <a:ext cx="3699094" cy="28906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FULL ADDER – LOGISIM SIMULATION EVIDENCE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020" y="937260"/>
            <a:ext cx="6845935" cy="5658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FULL ADDER – TRUTH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207571"/>
              </p:ext>
            </p:extLst>
          </p:nvPr>
        </p:nvGraphicFramePr>
        <p:xfrm>
          <a:off x="1396181" y="1258529"/>
          <a:ext cx="9104670" cy="4776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0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0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0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0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724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AFAFC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AFAFC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AFAFC"/>
                          </a:solidFill>
                        </a:defRPr>
                      </a:pPr>
                      <a:r>
                        <a:t>Cin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AFAFC"/>
                          </a:solidFill>
                        </a:defRPr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AFAFC"/>
                          </a:solidFill>
                        </a:defRPr>
                      </a:pPr>
                      <a:r>
                        <a:t>Cout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RESULT AND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0515600" cy="41148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F7E5A-905A-5135-6C30-D006E2D77968}"/>
              </a:ext>
            </a:extLst>
          </p:cNvPr>
          <p:cNvSpPr txBox="1"/>
          <p:nvPr/>
        </p:nvSpPr>
        <p:spPr>
          <a:xfrm>
            <a:off x="1818967" y="1581894"/>
            <a:ext cx="858356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Half Adder and Full Adder circuits were successfully designed and simulated using Logisim.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Half Adder performs binary addition of two 1-bit inputs and produces Sum and Carry.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Full Adder adds three 1-bit inputs, including Carry-in, and produces Sum and Carry-out.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simulation results were verified using the respective truth tables.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Full Adders can be combined to design larger multi-bit adders used in digital systems.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94360" y="914400"/>
            <a:ext cx="59436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88720" y="91440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" y="1234440"/>
            <a:ext cx="457199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591055" y="117957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94360" y="1645920"/>
            <a:ext cx="59436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164592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1965960"/>
            <a:ext cx="457199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591055" y="1911095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594360" y="2377440"/>
            <a:ext cx="59436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" y="237744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2697480"/>
            <a:ext cx="457199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591055" y="264261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 flipH="1">
            <a:off x="9418319" y="914400"/>
            <a:ext cx="594361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18319" y="91440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961119" y="1234440"/>
            <a:ext cx="45720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906255" y="117957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H="1">
            <a:off x="9418319" y="1645920"/>
            <a:ext cx="594361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18319" y="164592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961119" y="1965960"/>
            <a:ext cx="45720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906255" y="1911095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 flipH="1">
            <a:off x="9418319" y="2377440"/>
            <a:ext cx="594361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18319" y="237744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961119" y="2697480"/>
            <a:ext cx="45720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906255" y="264261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291288" y="3273699"/>
            <a:ext cx="241382" cy="146304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735041" y="3312883"/>
            <a:ext cx="201952" cy="196842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270247" y="5068043"/>
            <a:ext cx="146304" cy="14629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010144" y="5037558"/>
            <a:ext cx="146304" cy="146304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4" name="Connector 33"/>
          <p:cNvCxnSpPr/>
          <p:nvPr/>
        </p:nvCxnSpPr>
        <p:spPr>
          <a:xfrm>
            <a:off x="4411979" y="3342820"/>
            <a:ext cx="1179576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426364" y="3429000"/>
            <a:ext cx="1353312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398264" y="5110710"/>
            <a:ext cx="1179576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01765" y="5110710"/>
            <a:ext cx="1353312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91555" y="3346851"/>
            <a:ext cx="0" cy="109728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26364" y="3417643"/>
            <a:ext cx="0" cy="109728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591555" y="4283324"/>
            <a:ext cx="1005840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248656" y="4019476"/>
            <a:ext cx="1691640" cy="731520"/>
          </a:xfrm>
          <a:prstGeom prst="roundRect">
            <a:avLst/>
          </a:prstGeom>
          <a:solidFill>
            <a:srgbClr val="1B264B"/>
          </a:solidFill>
          <a:ln w="25400">
            <a:solidFill>
              <a:srgbClr val="4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58384" y="4251959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9FC"/>
                </a:solidFill>
                <a:latin typeface="Aptos Display"/>
              </a:defRPr>
            </a:pPr>
            <a:r>
              <a:rPr dirty="0"/>
              <a:t>LOGISIM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09928" y="1946468"/>
            <a:ext cx="8531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8F9FC"/>
                </a:solidFill>
                <a:latin typeface="Aptos Display"/>
              </a:defRPr>
            </a:pPr>
            <a:r>
              <a:rPr dirty="0"/>
              <a:t>THANK YOU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931920" y="3737634"/>
            <a:ext cx="4325111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424</Words>
  <Application>Microsoft Office PowerPoint</Application>
  <PresentationFormat>Widescreen</PresentationFormat>
  <Paragraphs>106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Calisto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SHIVAMPETA VARSHINI</dc:creator>
  <dc:description>generated using python-pptx</dc:description>
  <cp:lastModifiedBy>SHIVAMPETA VARSHINI</cp:lastModifiedBy>
  <cp:revision>8</cp:revision>
  <dcterms:created xsi:type="dcterms:W3CDTF">2013-01-27T09:14:00Z</dcterms:created>
  <dcterms:modified xsi:type="dcterms:W3CDTF">2026-09-03T16:40:12Z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2FEF0C9F0749483D8B3929F480692149_12</vt:lpwstr>
  </property>
</Properties>
</file>